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8"/>
  </p:normalViewPr>
  <p:slideViewPr>
    <p:cSldViewPr snapToGrid="0" snapToObjects="1">
      <p:cViewPr>
        <p:scale>
          <a:sx n="93" d="100"/>
          <a:sy n="93" d="100"/>
        </p:scale>
        <p:origin x="7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iyankakadam/Documents/Case1.xlsx" TargetMode="External"/><Relationship Id="rId4" Type="http://schemas.openxmlformats.org/officeDocument/2006/relationships/chartUserShapes" Target="../drawings/drawing1.xm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/Users/priyankakadam/Documents/Case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iyankakadam/Documents/Case1.xlsx" TargetMode="External"/><Relationship Id="rId4" Type="http://schemas.openxmlformats.org/officeDocument/2006/relationships/chartUserShapes" Target="../drawings/drawing2.xml"/><Relationship Id="rId1" Type="http://schemas.microsoft.com/office/2011/relationships/chartStyle" Target="style3.xml"/><Relationship Id="rId2" Type="http://schemas.microsoft.com/office/2011/relationships/chartColorStyle" Target="colors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iyankakadam/Documents/Case1.xlsx" TargetMode="External"/><Relationship Id="rId4" Type="http://schemas.openxmlformats.org/officeDocument/2006/relationships/chartUserShapes" Target="../drawings/drawing3.xml"/><Relationship Id="rId1" Type="http://schemas.microsoft.com/office/2011/relationships/chartStyle" Target="style4.xml"/><Relationship Id="rId2" Type="http://schemas.microsoft.com/office/2011/relationships/chartColorStyle" Target="colors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200" cap="all" baseline="0" dirty="0">
                <a:solidFill>
                  <a:schemeClr val="tx1"/>
                </a:solidFill>
              </a:rPr>
              <a:t>Revenue by Product Category</a:t>
            </a:r>
          </a:p>
          <a:p>
            <a:pPr>
              <a:defRPr sz="2200" cap="all">
                <a:solidFill>
                  <a:schemeClr val="tx1"/>
                </a:solidFill>
              </a:defRPr>
            </a:pPr>
            <a:endParaRPr lang="en-US" sz="2200" cap="all" baseline="0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6600022417127"/>
          <c:y val="0.144009900990099"/>
          <c:w val="0.846709586123798"/>
          <c:h val="0.6733702346612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SLIDE1!$A$15</c:f>
              <c:strCache>
                <c:ptCount val="1"/>
                <c:pt idx="0">
                  <c:v>Burritos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SLIDE1!$B$14:$C$14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SLIDE1!$B$15:$C$15</c:f>
              <c:numCache>
                <c:formatCode>"$"#,##0.00</c:formatCode>
                <c:ptCount val="2"/>
                <c:pt idx="0">
                  <c:v>1.72400037416E9</c:v>
                </c:pt>
                <c:pt idx="1">
                  <c:v>1.71046473984E9</c:v>
                </c:pt>
              </c:numCache>
            </c:numRef>
          </c:val>
        </c:ser>
        <c:ser>
          <c:idx val="1"/>
          <c:order val="1"/>
          <c:tx>
            <c:strRef>
              <c:f>SLIDE1!$A$16</c:f>
              <c:strCache>
                <c:ptCount val="1"/>
                <c:pt idx="0">
                  <c:v>Drinks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SLIDE1!$B$14:$C$14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SLIDE1!$B$16:$C$16</c:f>
              <c:numCache>
                <c:formatCode>"$"#,##0.00</c:formatCode>
                <c:ptCount val="2"/>
                <c:pt idx="0">
                  <c:v>6.38726640710001E8</c:v>
                </c:pt>
                <c:pt idx="1">
                  <c:v>9.67762945509998E8</c:v>
                </c:pt>
              </c:numCache>
            </c:numRef>
          </c:val>
        </c:ser>
        <c:ser>
          <c:idx val="2"/>
          <c:order val="2"/>
          <c:tx>
            <c:strRef>
              <c:f>SLIDE1!$A$17</c:f>
              <c:strCache>
                <c:ptCount val="1"/>
                <c:pt idx="0">
                  <c:v>Kids menu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SLIDE1!$B$14:$C$14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SLIDE1!$B$17:$C$17</c:f>
              <c:numCache>
                <c:formatCode>"$"#,##0.00</c:formatCode>
                <c:ptCount val="2"/>
                <c:pt idx="0">
                  <c:v>3.49105048329999E8</c:v>
                </c:pt>
                <c:pt idx="1">
                  <c:v>3.60097839999999E8</c:v>
                </c:pt>
              </c:numCache>
            </c:numRef>
          </c:val>
        </c:ser>
        <c:ser>
          <c:idx val="3"/>
          <c:order val="3"/>
          <c:tx>
            <c:strRef>
              <c:f>SLIDE1!$A$18</c:f>
              <c:strCache>
                <c:ptCount val="1"/>
                <c:pt idx="0">
                  <c:v>Tacos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SLIDE1!$B$14:$C$14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SLIDE1!$B$18:$C$18</c:f>
              <c:numCache>
                <c:formatCode>"$"#,##0.00</c:formatCode>
                <c:ptCount val="2"/>
                <c:pt idx="0">
                  <c:v>1.39643693675E9</c:v>
                </c:pt>
                <c:pt idx="1">
                  <c:v>1.46289747465E9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3215472"/>
        <c:axId val="513218864"/>
      </c:barChart>
      <c:catAx>
        <c:axId val="5132154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cap="all" baseline="0" dirty="0">
                    <a:solidFill>
                      <a:schemeClr val="tx1"/>
                    </a:solidFill>
                  </a:rPr>
                  <a:t>Year</a:t>
                </a:r>
              </a:p>
            </c:rich>
          </c:tx>
          <c:layout>
            <c:manualLayout>
              <c:xMode val="edge"/>
              <c:yMode val="edge"/>
              <c:x val="0.522788661585326"/>
              <c:y val="0.845662137658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3218864"/>
        <c:crosses val="autoZero"/>
        <c:auto val="1"/>
        <c:lblAlgn val="ctr"/>
        <c:lblOffset val="100"/>
        <c:noMultiLvlLbl val="0"/>
      </c:catAx>
      <c:valAx>
        <c:axId val="51321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baseline="0" dirty="0" smtClean="0">
                    <a:solidFill>
                      <a:schemeClr val="tx1"/>
                    </a:solidFill>
                  </a:rPr>
                  <a:t>REVENUE</a:t>
                </a:r>
                <a:endParaRPr lang="en-US" sz="1600" b="1" i="0" baseline="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0102589812992126"/>
              <c:y val="0.4117085830689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3215472"/>
        <c:crosses val="autoZero"/>
        <c:crossBetween val="between"/>
        <c:dispUnits>
          <c:builtInUnit val="millions"/>
          <c:dispUnitsLbl>
            <c:layout/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en-US" sz="1200" baseline="0"/>
                    <a:t>Millions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cap="all" baseline="0" dirty="0" smtClean="0">
                <a:solidFill>
                  <a:schemeClr val="tx1"/>
                </a:solidFill>
              </a:rPr>
              <a:t>REVENUE BY EXISTING VS NEW LOCATIONS</a:t>
            </a:r>
            <a:endParaRPr lang="en-US" sz="1800" b="1" i="0" cap="all" baseline="0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SLIDE2!$A$13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SLIDE2!$B$12:$C$12</c:f>
              <c:numCache>
                <c:formatCode>General</c:formatCode>
                <c:ptCount val="2"/>
                <c:pt idx="0">
                  <c:v>2014.0</c:v>
                </c:pt>
                <c:pt idx="1">
                  <c:v>2015.0</c:v>
                </c:pt>
              </c:numCache>
            </c:numRef>
          </c:cat>
          <c:val>
            <c:numRef>
              <c:f>SLIDE2!$B$13:$C$13</c:f>
              <c:numCache>
                <c:formatCode>"$"#,##0.00</c:formatCode>
                <c:ptCount val="2"/>
                <c:pt idx="0">
                  <c:v>4.10826899995E9</c:v>
                </c:pt>
                <c:pt idx="1">
                  <c:v>4.13678891077E9</c:v>
                </c:pt>
              </c:numCache>
            </c:numRef>
          </c:val>
        </c:ser>
        <c:ser>
          <c:idx val="1"/>
          <c:order val="1"/>
          <c:tx>
            <c:strRef>
              <c:f>SLIDE2!$A$14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SLIDE2!$B$12:$C$12</c:f>
              <c:numCache>
                <c:formatCode>General</c:formatCode>
                <c:ptCount val="2"/>
                <c:pt idx="0">
                  <c:v>2014.0</c:v>
                </c:pt>
                <c:pt idx="1">
                  <c:v>2015.0</c:v>
                </c:pt>
              </c:numCache>
            </c:numRef>
          </c:cat>
          <c:val>
            <c:numRef>
              <c:f>SLIDE2!$B$14:$C$14</c:f>
              <c:numCache>
                <c:formatCode>"$"#,##0.00</c:formatCode>
                <c:ptCount val="2"/>
                <c:pt idx="1">
                  <c:v>3.6443408923E8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12058432"/>
        <c:axId val="512062464"/>
      </c:barChart>
      <c:catAx>
        <c:axId val="5120584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cap="all" baseline="0" dirty="0" smtClean="0">
                    <a:solidFill>
                      <a:schemeClr val="tx1"/>
                    </a:solidFill>
                  </a:rPr>
                  <a:t>year</a:t>
                </a:r>
                <a:endParaRPr lang="en-US" sz="1600" b="1" i="0" cap="all" baseline="0" dirty="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062464"/>
        <c:crosses val="autoZero"/>
        <c:auto val="1"/>
        <c:lblAlgn val="ctr"/>
        <c:lblOffset val="100"/>
        <c:noMultiLvlLbl val="0"/>
      </c:catAx>
      <c:valAx>
        <c:axId val="51206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cap="all" normalizeH="0" baseline="0" dirty="0" smtClean="0">
                    <a:solidFill>
                      <a:schemeClr val="tx1"/>
                    </a:solidFill>
                  </a:rPr>
                  <a:t>REVENUE</a:t>
                </a:r>
                <a:endParaRPr lang="en-US" sz="1600" b="1" i="0" cap="all" normalizeH="0" baseline="0" dirty="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05843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aseline="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aseline="0" dirty="0">
                <a:solidFill>
                  <a:schemeClr val="tx1"/>
                </a:solidFill>
              </a:rPr>
              <a:t>Number of new locations opened by year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SLIDE3!$G$3</c:f>
              <c:strCache>
                <c:ptCount val="1"/>
                <c:pt idx="0">
                  <c:v>Count of Store_ID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numRef>
              <c:f>SLIDE3!$F$4:$F$29</c:f>
              <c:numCache>
                <c:formatCode>General</c:formatCode>
                <c:ptCount val="26"/>
                <c:pt idx="0">
                  <c:v>1994.0</c:v>
                </c:pt>
                <c:pt idx="1">
                  <c:v>1995.0</c:v>
                </c:pt>
                <c:pt idx="2">
                  <c:v>1996.0</c:v>
                </c:pt>
                <c:pt idx="3">
                  <c:v>1997.0</c:v>
                </c:pt>
                <c:pt idx="4">
                  <c:v>1998.0</c:v>
                </c:pt>
                <c:pt idx="5">
                  <c:v>1999.0</c:v>
                </c:pt>
                <c:pt idx="6">
                  <c:v>2000.0</c:v>
                </c:pt>
                <c:pt idx="7">
                  <c:v>2001.0</c:v>
                </c:pt>
                <c:pt idx="8">
                  <c:v>2002.0</c:v>
                </c:pt>
                <c:pt idx="9">
                  <c:v>2003.0</c:v>
                </c:pt>
                <c:pt idx="10">
                  <c:v>2004.0</c:v>
                </c:pt>
                <c:pt idx="11">
                  <c:v>2005.0</c:v>
                </c:pt>
                <c:pt idx="12">
                  <c:v>2006.0</c:v>
                </c:pt>
                <c:pt idx="13">
                  <c:v>2007.0</c:v>
                </c:pt>
                <c:pt idx="14">
                  <c:v>2008.0</c:v>
                </c:pt>
                <c:pt idx="15">
                  <c:v>2009.0</c:v>
                </c:pt>
                <c:pt idx="16">
                  <c:v>2010.0</c:v>
                </c:pt>
                <c:pt idx="17">
                  <c:v>2011.0</c:v>
                </c:pt>
                <c:pt idx="18">
                  <c:v>2012.0</c:v>
                </c:pt>
                <c:pt idx="19">
                  <c:v>2013.0</c:v>
                </c:pt>
                <c:pt idx="20">
                  <c:v>2014.0</c:v>
                </c:pt>
                <c:pt idx="21">
                  <c:v>2015.0</c:v>
                </c:pt>
                <c:pt idx="22">
                  <c:v>2016.0</c:v>
                </c:pt>
                <c:pt idx="23">
                  <c:v>2017.0</c:v>
                </c:pt>
                <c:pt idx="24">
                  <c:v>2018.0</c:v>
                </c:pt>
                <c:pt idx="25">
                  <c:v>2019.0</c:v>
                </c:pt>
              </c:numCache>
            </c:numRef>
          </c:cat>
          <c:val>
            <c:numRef>
              <c:f>SLIDE3!$G$4:$G$29</c:f>
              <c:numCache>
                <c:formatCode>General</c:formatCode>
                <c:ptCount val="26"/>
                <c:pt idx="0">
                  <c:v>1.0</c:v>
                </c:pt>
                <c:pt idx="1">
                  <c:v>1.0</c:v>
                </c:pt>
                <c:pt idx="2">
                  <c:v>5.0</c:v>
                </c:pt>
                <c:pt idx="3">
                  <c:v>13.0</c:v>
                </c:pt>
                <c:pt idx="4">
                  <c:v>22.0</c:v>
                </c:pt>
                <c:pt idx="5">
                  <c:v>58.0</c:v>
                </c:pt>
                <c:pt idx="6">
                  <c:v>69.0</c:v>
                </c:pt>
                <c:pt idx="7">
                  <c:v>115.0</c:v>
                </c:pt>
                <c:pt idx="8">
                  <c:v>116.0</c:v>
                </c:pt>
                <c:pt idx="9">
                  <c:v>130.0</c:v>
                </c:pt>
                <c:pt idx="10">
                  <c:v>131.0</c:v>
                </c:pt>
                <c:pt idx="11">
                  <c:v>145.0</c:v>
                </c:pt>
                <c:pt idx="12">
                  <c:v>150.0</c:v>
                </c:pt>
                <c:pt idx="13">
                  <c:v>154.0</c:v>
                </c:pt>
                <c:pt idx="14">
                  <c:v>70.0</c:v>
                </c:pt>
                <c:pt idx="15">
                  <c:v>94.0</c:v>
                </c:pt>
                <c:pt idx="16">
                  <c:v>126.0</c:v>
                </c:pt>
                <c:pt idx="17">
                  <c:v>160.0</c:v>
                </c:pt>
                <c:pt idx="18">
                  <c:v>201.0</c:v>
                </c:pt>
                <c:pt idx="19">
                  <c:v>260.0</c:v>
                </c:pt>
                <c:pt idx="20">
                  <c:v>222.0</c:v>
                </c:pt>
                <c:pt idx="21">
                  <c:v>200.0</c:v>
                </c:pt>
                <c:pt idx="22">
                  <c:v>153.0</c:v>
                </c:pt>
                <c:pt idx="23">
                  <c:v>101.0</c:v>
                </c:pt>
                <c:pt idx="24">
                  <c:v>72.0</c:v>
                </c:pt>
                <c:pt idx="25">
                  <c:v>62.0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512093200"/>
        <c:axId val="512097232"/>
      </c:barChart>
      <c:catAx>
        <c:axId val="5120932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tx1">
                  <a:lumMod val="5000"/>
                  <a:lumOff val="95000"/>
                </a:schemeClr>
              </a:solidFill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baseline="0" dirty="0">
                    <a:solidFill>
                      <a:schemeClr val="tx1"/>
                    </a:solidFill>
                  </a:rPr>
                  <a:t>Year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097232"/>
        <c:crosses val="autoZero"/>
        <c:auto val="1"/>
        <c:lblAlgn val="ctr"/>
        <c:lblOffset val="100"/>
        <c:noMultiLvlLbl val="0"/>
      </c:catAx>
      <c:valAx>
        <c:axId val="512097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baseline="0" dirty="0">
                    <a:solidFill>
                      <a:schemeClr val="tx1"/>
                    </a:solidFill>
                  </a:rPr>
                  <a:t>No of new locations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09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cap="all" baseline="0">
                <a:solidFill>
                  <a:schemeClr val="tx1"/>
                </a:solidFill>
              </a:rPr>
              <a:t>Revenue Forecast for different scenarios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0646559397466621"/>
          <c:y val="0.135794093678772"/>
          <c:w val="0.895007484605319"/>
          <c:h val="0.680032241791503"/>
        </c:manualLayout>
      </c:layout>
      <c:lineChart>
        <c:grouping val="standard"/>
        <c:varyColors val="0"/>
        <c:ser>
          <c:idx val="0"/>
          <c:order val="0"/>
          <c:tx>
            <c:strRef>
              <c:f>Analysis!$A$2</c:f>
              <c:strCache>
                <c:ptCount val="1"/>
                <c:pt idx="0">
                  <c:v>Business as usual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279468599033816"/>
                  <c:y val="0.049616922427078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327777777777778"/>
                  <c:y val="0.035023709948526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279468599033816"/>
                  <c:y val="0.049616922427078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303623188405797"/>
                  <c:y val="0.043779637435657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Analysis!$B$1:$F$1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Analysis!$B$2:$F$2</c:f>
              <c:numCache>
                <c:formatCode>"$"#,##0.00</c:formatCode>
                <c:ptCount val="5"/>
                <c:pt idx="0">
                  <c:v>4.501223E9</c:v>
                </c:pt>
                <c:pt idx="1">
                  <c:v>4.55396462308331E9</c:v>
                </c:pt>
                <c:pt idx="2">
                  <c:v>4.51166901502976E9</c:v>
                </c:pt>
                <c:pt idx="3">
                  <c:v>4.42436237788241E9</c:v>
                </c:pt>
                <c:pt idx="4">
                  <c:v>4.32757362460363E9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Analysis!$A$3</c:f>
              <c:strCache>
                <c:ptCount val="1"/>
                <c:pt idx="0">
                  <c:v>Project crunch scenario 1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267391304347826"/>
                  <c:y val="0.035023709948526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327777777777778"/>
                  <c:y val="0.037942352444236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279468599033816"/>
                  <c:y val="0.040860994939947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91545893719807"/>
                  <c:y val="0.05253556492278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Analysis!$B$1:$F$1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Analysis!$B$3:$F$3</c:f>
              <c:numCache>
                <c:formatCode>"$"#,##0.00</c:formatCode>
                <c:ptCount val="5"/>
                <c:pt idx="0">
                  <c:v>4.501223E9</c:v>
                </c:pt>
                <c:pt idx="1">
                  <c:v>4.63382607284324E9</c:v>
                </c:pt>
                <c:pt idx="2">
                  <c:v>4.64441639414636E9</c:v>
                </c:pt>
                <c:pt idx="3">
                  <c:v>4.68389290401167E9</c:v>
                </c:pt>
                <c:pt idx="4">
                  <c:v>4.70331273700085E9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Analysis!$A$4</c:f>
              <c:strCache>
                <c:ptCount val="1"/>
                <c:pt idx="0">
                  <c:v>Project crunch scenario 2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279468599033816"/>
                  <c:y val="-0.026267782461394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327777777777778"/>
                  <c:y val="-0.049616922427078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279468599033816"/>
                  <c:y val="-0.046698279931368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79468599033815"/>
                  <c:y val="-0.040860994939947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Analysis!$B$1:$F$1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Analysis!$B$4:$F$4</c:f>
              <c:numCache>
                <c:formatCode>"$"#,##0.00</c:formatCode>
                <c:ptCount val="5"/>
                <c:pt idx="0">
                  <c:v>4.501223E9</c:v>
                </c:pt>
                <c:pt idx="1">
                  <c:v>4.6572545221164E9</c:v>
                </c:pt>
                <c:pt idx="2">
                  <c:v>4.68289665398166E9</c:v>
                </c:pt>
                <c:pt idx="3">
                  <c:v>4.75827071772592E9</c:v>
                </c:pt>
                <c:pt idx="4">
                  <c:v>4.80982807931706E9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18394832"/>
        <c:axId val="563774384"/>
      </c:lineChart>
      <c:catAx>
        <c:axId val="518394832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cap="all" baseline="0" dirty="0" smtClean="0"/>
                  <a:t>Year </a:t>
                </a:r>
                <a:endParaRPr lang="en-US" sz="1600" b="1" i="0" cap="all" baseline="0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3774384"/>
        <c:crosses val="autoZero"/>
        <c:auto val="1"/>
        <c:lblAlgn val="ctr"/>
        <c:lblOffset val="100"/>
        <c:noMultiLvlLbl val="0"/>
      </c:catAx>
      <c:valAx>
        <c:axId val="56377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i="0" cap="all" baseline="0">
                    <a:solidFill>
                      <a:schemeClr val="tx1"/>
                    </a:solidFill>
                  </a:rPr>
                  <a:t>Revenue 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394832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2611073072388"/>
          <c:y val="0.937803510934566"/>
          <c:w val="0.750362496776375"/>
          <c:h val="0.0585702406670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0.87367</cdr:x>
      <cdr:y>0.66584</cdr:y>
    </cdr:from>
    <cdr:to>
      <cdr:x>0.96619</cdr:x>
      <cdr:y>0.71782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6235700" y="3416300"/>
          <a:ext cx="660400" cy="2667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0.84519</cdr:x>
      <cdr:y>0.13127</cdr:y>
    </cdr:from>
    <cdr:to>
      <cdr:x>0.84651</cdr:x>
      <cdr:y>0.81933</cdr:y>
    </cdr:to>
    <cdr:cxnSp macro="">
      <cdr:nvCxnSpPr>
        <cdr:cNvPr id="3" name="Straight Connector 2"/>
        <cdr:cNvCxnSpPr/>
      </cdr:nvCxnSpPr>
      <cdr:spPr>
        <a:xfrm xmlns:a="http://schemas.openxmlformats.org/drawingml/2006/main">
          <a:off x="8887691" y="632631"/>
          <a:ext cx="13854" cy="3315915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rgbClr val="C0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0.84519</cdr:x>
      <cdr:y>0.1854</cdr:y>
    </cdr:from>
    <cdr:to>
      <cdr:x>0.98485</cdr:x>
      <cdr:y>0.18858</cdr:y>
    </cdr:to>
    <cdr:cxnSp macro="">
      <cdr:nvCxnSpPr>
        <cdr:cNvPr id="7" name="Straight Arrow Connector 6"/>
        <cdr:cNvCxnSpPr/>
      </cdr:nvCxnSpPr>
      <cdr:spPr>
        <a:xfrm xmlns:a="http://schemas.openxmlformats.org/drawingml/2006/main">
          <a:off x="8887691" y="806739"/>
          <a:ext cx="1468582" cy="13854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0.85968</cdr:x>
      <cdr:y>0.13799</cdr:y>
    </cdr:from>
    <cdr:to>
      <cdr:x>0.94664</cdr:x>
      <cdr:y>0.32773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9040091" y="66501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0.87681</cdr:x>
      <cdr:y>0.12937</cdr:y>
    </cdr:from>
    <cdr:to>
      <cdr:x>0.96377</cdr:x>
      <cdr:y>0.18112</cdr:y>
    </cdr:to>
    <cdr:sp macro="" textlink="">
      <cdr:nvSpPr>
        <cdr:cNvPr id="9" name="TextBox 8"/>
        <cdr:cNvSpPr txBox="1"/>
      </cdr:nvSpPr>
      <cdr:spPr>
        <a:xfrm xmlns:a="http://schemas.openxmlformats.org/drawingml/2006/main">
          <a:off x="9220200" y="623456"/>
          <a:ext cx="914400" cy="2493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200" b="1" cap="all" dirty="0" smtClean="0"/>
            <a:t>FORECAST</a:t>
          </a:r>
          <a:endParaRPr lang="en-US" sz="1200" b="1" cap="all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0.91304</cdr:x>
      <cdr:y>0.56667</cdr:y>
    </cdr:from>
    <cdr:to>
      <cdr:x>1</cdr:x>
      <cdr:y>0.7359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9635836" y="306185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/>
        </a:p>
      </cdr:txBody>
    </cdr:sp>
  </cdr:relSizeAnchor>
  <cdr:relSizeAnchor xmlns:cdr="http://schemas.openxmlformats.org/drawingml/2006/chartDrawing">
    <cdr:from>
      <cdr:x>0.91182</cdr:x>
      <cdr:y>0.56154</cdr:y>
    </cdr:from>
    <cdr:to>
      <cdr:x>1</cdr:x>
      <cdr:y>0.73077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9580419" y="3034147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/>
        </a:p>
      </cdr:txBody>
    </cdr:sp>
  </cdr:relSizeAnchor>
  <cdr:relSizeAnchor xmlns:cdr="http://schemas.openxmlformats.org/drawingml/2006/chartDrawing">
    <cdr:from>
      <cdr:x>0.91182</cdr:x>
      <cdr:y>0.56667</cdr:y>
    </cdr:from>
    <cdr:to>
      <cdr:x>1</cdr:x>
      <cdr:y>0.7359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9483437" y="306185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C79B1-8EBD-7D48-8C28-4B10B18A1A29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F2B08-C2A5-CE41-95BE-2BE3808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7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87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2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4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7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5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3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60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3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8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21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13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DCD7-8E7F-8041-AA93-47DE3CBB0424}" type="datetimeFigureOut">
              <a:rPr lang="en-US" smtClean="0"/>
              <a:t>8/20/17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DE759-E362-1744-B720-49A295CEF4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2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Chiboodle Inc. Case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-Priyanka Kadam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51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837"/>
            <a:ext cx="10515600" cy="130973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Chiboodle Sales grew </a:t>
            </a:r>
            <a:r>
              <a:rPr lang="en-US" sz="3200" b="1" dirty="0" smtClean="0">
                <a:solidFill>
                  <a:srgbClr val="002060"/>
                </a:solidFill>
              </a:rPr>
              <a:t>9.56% </a:t>
            </a:r>
            <a:r>
              <a:rPr lang="en-US" sz="3200" dirty="0" smtClean="0"/>
              <a:t>in</a:t>
            </a:r>
            <a:r>
              <a:rPr lang="en-US" sz="3200" dirty="0" smtClean="0">
                <a:solidFill>
                  <a:schemeClr val="accent1"/>
                </a:solidFill>
              </a:rPr>
              <a:t> </a:t>
            </a:r>
            <a:r>
              <a:rPr lang="en-US" sz="3200" b="1" dirty="0" smtClean="0">
                <a:solidFill>
                  <a:srgbClr val="002060"/>
                </a:solidFill>
              </a:rPr>
              <a:t>2015</a:t>
            </a:r>
            <a:r>
              <a:rPr lang="en-US" sz="3200" dirty="0" smtClean="0"/>
              <a:t>.</a:t>
            </a:r>
            <a:r>
              <a:rPr lang="en-US" sz="3200" dirty="0" smtClean="0">
                <a:solidFill>
                  <a:schemeClr val="accent1"/>
                </a:solidFill>
              </a:rPr>
              <a:t> </a:t>
            </a:r>
            <a:r>
              <a:rPr lang="en-US" sz="3200" dirty="0" smtClean="0"/>
              <a:t>Growth was driven primarily by product segment </a:t>
            </a:r>
            <a:r>
              <a:rPr lang="en-US" sz="3200" b="1" dirty="0" smtClean="0">
                <a:solidFill>
                  <a:schemeClr val="accent4"/>
                </a:solidFill>
              </a:rPr>
              <a:t>Drinks</a:t>
            </a:r>
            <a:r>
              <a:rPr lang="en-US" sz="3200" dirty="0" smtClean="0"/>
              <a:t>.</a:t>
            </a:r>
            <a:r>
              <a:rPr lang="en-US" sz="3200" dirty="0" smtClean="0">
                <a:solidFill>
                  <a:schemeClr val="accent1"/>
                </a:solidFill>
              </a:rPr>
              <a:t> 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</a:rPr>
              <a:t>Tacos</a:t>
            </a:r>
            <a:r>
              <a:rPr lang="en-US" sz="3200" dirty="0" smtClean="0">
                <a:solidFill>
                  <a:schemeClr val="accent1"/>
                </a:solidFill>
              </a:rPr>
              <a:t> </a:t>
            </a:r>
            <a:r>
              <a:rPr lang="en-US" sz="3200" dirty="0" smtClean="0"/>
              <a:t>is very closely aligned to </a:t>
            </a:r>
            <a:r>
              <a:rPr lang="en-US" sz="3200" b="1" dirty="0" smtClean="0">
                <a:solidFill>
                  <a:schemeClr val="accent6"/>
                </a:solidFill>
              </a:rPr>
              <a:t>Kids Menu </a:t>
            </a:r>
            <a:r>
              <a:rPr lang="en-US" sz="3200" dirty="0" smtClean="0"/>
              <a:t>and appear to be just average in terms of growth rate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277610"/>
              </p:ext>
            </p:extLst>
          </p:nvPr>
        </p:nvGraphicFramePr>
        <p:xfrm>
          <a:off x="838200" y="1690688"/>
          <a:ext cx="8485031" cy="503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05707" y="1690688"/>
            <a:ext cx="2119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+mj-lt"/>
              </a:rPr>
              <a:t>Year on year by Product segment</a:t>
            </a:r>
            <a:endParaRPr lang="en-US" sz="1600" b="1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1565" y="2787009"/>
            <a:ext cx="1361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2">
                    <a:lumMod val="50000"/>
                  </a:schemeClr>
                </a:solidFill>
                <a:latin typeface="+mj-lt"/>
              </a:rPr>
              <a:t>Tacos:  4.76% </a:t>
            </a:r>
            <a:endParaRPr lang="en-US" sz="1600" b="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18184" y="3482352"/>
            <a:ext cx="1848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/>
                </a:solidFill>
              </a:rPr>
              <a:t>Kids Menu: 3.15%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1565" y="4206875"/>
            <a:ext cx="1495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C000"/>
                </a:solidFill>
              </a:rPr>
              <a:t>Drinks: 51.51 %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18184" y="5018069"/>
            <a:ext cx="1643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2"/>
                </a:solidFill>
              </a:rPr>
              <a:t>Burritos:  -0.79 %</a:t>
            </a:r>
            <a:endParaRPr lang="en-US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69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982"/>
            <a:ext cx="10515600" cy="1066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Most of the growth in 2015 came from </a:t>
            </a:r>
            <a:r>
              <a:rPr lang="en-US" sz="3200" dirty="0" smtClean="0">
                <a:solidFill>
                  <a:schemeClr val="accent2"/>
                </a:solidFill>
              </a:rPr>
              <a:t>New</a:t>
            </a:r>
            <a:r>
              <a:rPr lang="en-US" sz="3200" dirty="0" smtClean="0"/>
              <a:t> locations</a:t>
            </a:r>
            <a:endParaRPr 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126043"/>
              </p:ext>
            </p:extLst>
          </p:nvPr>
        </p:nvGraphicFramePr>
        <p:xfrm>
          <a:off x="838200" y="1163782"/>
          <a:ext cx="9497292" cy="5472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75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9493"/>
          </a:xfrm>
        </p:spPr>
        <p:txBody>
          <a:bodyPr>
            <a:noAutofit/>
          </a:bodyPr>
          <a:lstStyle/>
          <a:p>
            <a:r>
              <a:rPr lang="en-US" sz="3200" dirty="0" smtClean="0"/>
              <a:t>We cannot continue to rely on new locations for growth, since new locations growth is </a:t>
            </a:r>
            <a:r>
              <a:rPr lang="en-US" sz="3200" dirty="0" smtClean="0">
                <a:solidFill>
                  <a:schemeClr val="accent2"/>
                </a:solidFill>
              </a:rPr>
              <a:t>declining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4758"/>
              </p:ext>
            </p:extLst>
          </p:nvPr>
        </p:nvGraphicFramePr>
        <p:xfrm>
          <a:off x="838200" y="1385454"/>
          <a:ext cx="10515600" cy="4819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643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057"/>
          </a:xfrm>
        </p:spPr>
        <p:txBody>
          <a:bodyPr>
            <a:noAutofit/>
          </a:bodyPr>
          <a:lstStyle/>
          <a:p>
            <a:r>
              <a:rPr lang="en-US" sz="3200" dirty="0" smtClean="0"/>
              <a:t>“Business as usual ” Forecast: Revenue will grow to $ 4327 Million by 2019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9628096"/>
              </p:ext>
            </p:extLst>
          </p:nvPr>
        </p:nvGraphicFramePr>
        <p:xfrm>
          <a:off x="838199" y="1316184"/>
          <a:ext cx="10515599" cy="5098470"/>
        </p:xfrm>
        <a:graphic>
          <a:graphicData uri="http://schemas.openxmlformats.org/drawingml/2006/table">
            <a:tbl>
              <a:tblPr firstRow="1" firstCol="1">
                <a:tableStyleId>{72833802-FEF1-4C79-8D5D-14CF1EAF98D9}</a:tableStyleId>
              </a:tblPr>
              <a:tblGrid>
                <a:gridCol w="2811742"/>
                <a:gridCol w="1474544"/>
                <a:gridCol w="1619916"/>
                <a:gridCol w="1708276"/>
                <a:gridCol w="1516830"/>
                <a:gridCol w="1384291"/>
              </a:tblGrid>
              <a:tr h="540179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baseline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 dirty="0">
                          <a:effectLst/>
                          <a:latin typeface="+mj-lt"/>
                        </a:rPr>
                        <a:t>2015</a:t>
                      </a:r>
                      <a:endParaRPr lang="is-I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>
                          <a:effectLst/>
                          <a:latin typeface="+mj-lt"/>
                        </a:rPr>
                        <a:t>2016</a:t>
                      </a:r>
                      <a:endParaRPr lang="is-IS" sz="1800" b="1" i="0" u="none" strike="noStrike" baseline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>
                          <a:effectLst/>
                          <a:latin typeface="+mj-lt"/>
                        </a:rPr>
                        <a:t>2017</a:t>
                      </a:r>
                      <a:endParaRPr lang="is-IS" sz="1800" b="1" i="0" u="none" strike="noStrike" baseline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>
                          <a:effectLst/>
                          <a:latin typeface="+mj-lt"/>
                        </a:rPr>
                        <a:t>2018</a:t>
                      </a:r>
                      <a:endParaRPr lang="is-IS" sz="1800" b="1" i="0" u="none" strike="noStrike" baseline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700" u="none" strike="noStrike" baseline="0" dirty="0" smtClean="0">
                          <a:effectLst/>
                          <a:latin typeface="+mj-lt"/>
                        </a:rPr>
                        <a:t>2019</a:t>
                      </a:r>
                      <a:endParaRPr lang="is-IS" sz="1700" u="none" strike="noStrike" baseline="0" dirty="0"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</a:tr>
              <a:tr h="5401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baseline="0" dirty="0" smtClean="0">
                          <a:effectLst/>
                          <a:latin typeface="+mj-lt"/>
                        </a:rPr>
                        <a:t>NO OF STORES</a:t>
                      </a:r>
                      <a:endParaRPr lang="en-US" sz="16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0" u="none" strike="noStrike" baseline="0" dirty="0">
                          <a:effectLst/>
                          <a:latin typeface="+mj-lt"/>
                        </a:rPr>
                        <a:t>2443</a:t>
                      </a:r>
                      <a:endParaRPr lang="is-I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1" i="0" u="none" strike="noStrike" baseline="0" dirty="0">
                          <a:effectLst/>
                          <a:latin typeface="+mj-lt"/>
                        </a:rPr>
                        <a:t>2596</a:t>
                      </a:r>
                      <a:endParaRPr lang="is-I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1" i="0" u="none" strike="noStrike" baseline="0" dirty="0">
                          <a:effectLst/>
                          <a:latin typeface="+mj-lt"/>
                        </a:rPr>
                        <a:t>2697</a:t>
                      </a:r>
                      <a:endParaRPr lang="is-I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1" i="0" u="none" strike="noStrike" baseline="0" dirty="0">
                          <a:effectLst/>
                          <a:latin typeface="+mj-lt"/>
                        </a:rPr>
                        <a:t>2769</a:t>
                      </a:r>
                      <a:endParaRPr lang="is-I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600" b="1" i="0" u="none" strike="noStrike" baseline="0" dirty="0">
                          <a:effectLst/>
                          <a:latin typeface="+mj-lt"/>
                        </a:rPr>
                        <a:t>2831</a:t>
                      </a:r>
                      <a:endParaRPr lang="cs-CZ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</a:tr>
              <a:tr h="61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cap="all" baseline="0" dirty="0">
                          <a:effectLst/>
                          <a:latin typeface="+mj-lt"/>
                        </a:rPr>
                        <a:t>Revenue per store(all products</a:t>
                      </a:r>
                      <a:r>
                        <a:rPr lang="en-US" sz="1600" u="none" strike="noStrike" cap="all" baseline="0" dirty="0" smtClean="0">
                          <a:effectLst/>
                          <a:latin typeface="+mj-lt"/>
                        </a:rPr>
                        <a:t>)</a:t>
                      </a:r>
                      <a:endParaRPr lang="en-US" sz="1600" b="1" i="0" u="none" strike="noStrike" cap="all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baseline="0" dirty="0">
                          <a:effectLst/>
                          <a:latin typeface="+mj-lt"/>
                        </a:rPr>
                        <a:t>$1,842,498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$1,754,224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$1,672,847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$1,597,820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</a:t>
                      </a:r>
                      <a:r>
                        <a:rPr lang="en-US" sz="1600" b="1" i="0" u="none" strike="noStrike" baseline="0" dirty="0" smtClean="0">
                          <a:effectLst/>
                          <a:latin typeface="+mj-lt"/>
                        </a:rPr>
                        <a:t>1,528,638  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</a:tr>
              <a:tr h="5401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  <a:latin typeface="+mj-lt"/>
                        </a:rPr>
                        <a:t>    Burritos </a:t>
                      </a:r>
                      <a:r>
                        <a:rPr lang="en-US" sz="1600" b="0" u="none" strike="noStrike" baseline="0" dirty="0">
                          <a:effectLst/>
                          <a:latin typeface="+mj-lt"/>
                        </a:rPr>
                        <a:t>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$700,149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$637,783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$580,973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$529,223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$482,082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401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  <a:latin typeface="+mj-lt"/>
                        </a:rPr>
                        <a:t>    Tacos </a:t>
                      </a:r>
                      <a:r>
                        <a:rPr lang="en-US" sz="1600" b="0" u="none" strike="noStrike" baseline="0" dirty="0">
                          <a:effectLst/>
                          <a:latin typeface="+mj-lt"/>
                        </a:rPr>
                        <a:t>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$598,812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$575,955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$553,971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$532,826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$512,488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2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</a:tr>
              <a:tr h="61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  <a:latin typeface="+mj-lt"/>
                        </a:rPr>
                        <a:t>    Kids </a:t>
                      </a:r>
                      <a:r>
                        <a:rPr lang="en-US" sz="1600" b="0" u="none" strike="noStrike" baseline="0" dirty="0">
                          <a:effectLst/>
                          <a:latin typeface="+mj-lt"/>
                        </a:rPr>
                        <a:t>meal 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$147,400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$139,594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$132,202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$125,201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$118,571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401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  <a:latin typeface="+mj-lt"/>
                        </a:rPr>
                        <a:t>    Drinks </a:t>
                      </a:r>
                      <a:r>
                        <a:rPr lang="en-US" sz="1600" b="0" u="none" strike="noStrike" baseline="0" dirty="0">
                          <a:effectLst/>
                          <a:latin typeface="+mj-lt"/>
                        </a:rPr>
                        <a:t>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$396,137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$400,891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$405,701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$410,570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$415,497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4017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cap="all" baseline="0" dirty="0">
                          <a:effectLst/>
                          <a:latin typeface="+mj-lt"/>
                        </a:rPr>
                        <a:t>Chiboodle Total Revenue</a:t>
                      </a:r>
                      <a:endParaRPr lang="en-US" sz="1600" b="1" i="0" u="none" strike="noStrike" cap="all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baseline="0" dirty="0">
                          <a:effectLst/>
                          <a:latin typeface="+mj-lt"/>
                        </a:rPr>
                        <a:t>$4,501,223,000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 smtClean="0">
                          <a:effectLst/>
                          <a:latin typeface="+mj-lt"/>
                        </a:rPr>
                        <a:t>$4,553,964,623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$4,511,669,015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$4,424,362,378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effectLst/>
                          <a:latin typeface="+mj-lt"/>
                        </a:rPr>
                        <a:t>$4,327,573,625</a:t>
                      </a:r>
                      <a:endParaRPr lang="en-U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61913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cap="all" baseline="0" dirty="0">
                          <a:effectLst/>
                          <a:latin typeface="+mj-lt"/>
                        </a:rPr>
                        <a:t>Revenue growth % </a:t>
                      </a:r>
                      <a:r>
                        <a:rPr lang="en-US" sz="1600" u="none" strike="noStrike" baseline="0" dirty="0" smtClean="0">
                          <a:effectLst/>
                          <a:latin typeface="+mj-lt"/>
                        </a:rPr>
                        <a:t>(Year </a:t>
                      </a:r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on </a:t>
                      </a:r>
                      <a:r>
                        <a:rPr lang="en-US" sz="1600" u="none" strike="noStrike" baseline="0" dirty="0" smtClean="0">
                          <a:effectLst/>
                          <a:latin typeface="+mj-lt"/>
                        </a:rPr>
                        <a:t>Year</a:t>
                      </a:r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)</a:t>
                      </a:r>
                      <a:endParaRPr lang="en-US" sz="16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9.56</a:t>
                      </a:r>
                      <a:r>
                        <a:rPr lang="mr-IN" sz="1600" b="0" u="none" strike="noStrike" baseline="0" dirty="0">
                          <a:effectLst/>
                          <a:latin typeface="+mj-lt"/>
                        </a:rPr>
                        <a:t>%</a:t>
                      </a:r>
                      <a:endParaRPr lang="mr-IN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effectLst/>
                          <a:latin typeface="+mj-lt"/>
                        </a:rPr>
                        <a:t>1.17%</a:t>
                      </a:r>
                      <a:endParaRPr lang="mr-IN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effectLst/>
                          <a:latin typeface="+mj-lt"/>
                        </a:rPr>
                        <a:t>-0.93%</a:t>
                      </a:r>
                      <a:endParaRPr lang="mr-IN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effectLst/>
                          <a:latin typeface="+mj-lt"/>
                        </a:rPr>
                        <a:t>-1.94%</a:t>
                      </a:r>
                      <a:endParaRPr lang="mr-IN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effectLst/>
                          <a:latin typeface="+mj-lt"/>
                        </a:rPr>
                        <a:t>-2.19%</a:t>
                      </a:r>
                      <a:endParaRPr lang="mr-IN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69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692"/>
            <a:ext cx="10515600" cy="519544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Project Crunch Forecast: Key Assumptions and Methodology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6474"/>
            <a:ext cx="10515600" cy="56504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32217" y="609600"/>
            <a:ext cx="1842655" cy="554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latin typeface="+mj-lt"/>
              </a:rPr>
              <a:t>Chiboodle</a:t>
            </a:r>
            <a:r>
              <a:rPr lang="en-US" sz="1400" dirty="0" smtClean="0">
                <a:latin typeface="+mj-lt"/>
              </a:rPr>
              <a:t> Revenue: Project Crunch</a:t>
            </a:r>
            <a:endParaRPr lang="en-US" sz="14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62543" y="1456891"/>
            <a:ext cx="1565564" cy="78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Revenue: Burritos, Kids Meal, Tacos, Drinks</a:t>
            </a:r>
            <a:endParaRPr lang="en-US" sz="14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12718" y="1704105"/>
            <a:ext cx="1371600" cy="512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Revenue: Salads</a:t>
            </a:r>
            <a:endParaRPr lang="en-US" sz="14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7526" y="2972768"/>
            <a:ext cx="1551709" cy="42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Revenue per store</a:t>
            </a:r>
            <a:endParaRPr lang="en-US" sz="1400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28107" y="2848300"/>
            <a:ext cx="1163780" cy="50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No </a:t>
            </a:r>
            <a:r>
              <a:rPr lang="en-US" sz="1400" dirty="0"/>
              <a:t>of </a:t>
            </a:r>
            <a:r>
              <a:rPr lang="en-US" sz="1400" dirty="0" smtClean="0">
                <a:latin typeface="+mj-lt"/>
              </a:rPr>
              <a:t>stores</a:t>
            </a:r>
            <a:endParaRPr lang="en-US" sz="14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24446" y="1683328"/>
            <a:ext cx="1518790" cy="78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Cannibalization impact based on Purchase behavior change </a:t>
            </a:r>
            <a:endParaRPr lang="en-US" sz="1400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68834" y="2752289"/>
            <a:ext cx="1551709" cy="526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Revenue per store</a:t>
            </a:r>
            <a:endParaRPr lang="en-US" sz="1400" dirty="0"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26783" y="2606705"/>
            <a:ext cx="1260763" cy="1064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No </a:t>
            </a:r>
            <a:r>
              <a:rPr lang="en-US" sz="1400" dirty="0"/>
              <a:t>of </a:t>
            </a:r>
            <a:r>
              <a:rPr lang="en-US" sz="1400" dirty="0" smtClean="0">
                <a:latin typeface="+mj-lt"/>
              </a:rPr>
              <a:t>stores adopting salads based on adoption curves</a:t>
            </a:r>
            <a:endParaRPr lang="en-US" sz="1400" dirty="0"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17128" y="3796144"/>
            <a:ext cx="1357744" cy="983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Average Price per unit based on competitor salad prices </a:t>
            </a:r>
            <a:endParaRPr lang="en-US" sz="1400" dirty="0"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62104" y="3796144"/>
            <a:ext cx="1059873" cy="678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+mj-lt"/>
              </a:rPr>
              <a:t>No of units sold per store</a:t>
            </a:r>
            <a:endParaRPr lang="en-US" sz="1400" dirty="0"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24349" y="5024543"/>
            <a:ext cx="2535382" cy="845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Purchase behavior change if salads offered based </a:t>
            </a:r>
            <a:r>
              <a:rPr lang="en-US" sz="1400" dirty="0" smtClean="0">
                <a:latin typeface="+mj-lt"/>
              </a:rPr>
              <a:t>on survey</a:t>
            </a:r>
            <a:endParaRPr lang="en-US" sz="1400" dirty="0">
              <a:latin typeface="+mj-lt"/>
            </a:endParaRPr>
          </a:p>
        </p:txBody>
      </p:sp>
      <p:cxnSp>
        <p:nvCxnSpPr>
          <p:cNvPr id="22" name="Straight Arrow Connector 21"/>
          <p:cNvCxnSpPr>
            <a:stCxn id="8" idx="2"/>
          </p:cNvCxnSpPr>
          <p:nvPr/>
        </p:nvCxnSpPr>
        <p:spPr>
          <a:xfrm flipH="1">
            <a:off x="1750865" y="2246600"/>
            <a:ext cx="694460" cy="72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2" idx="0"/>
          </p:cNvCxnSpPr>
          <p:nvPr/>
        </p:nvCxnSpPr>
        <p:spPr>
          <a:xfrm>
            <a:off x="2445325" y="2246600"/>
            <a:ext cx="1364672" cy="601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2445325" y="1163781"/>
            <a:ext cx="3371848" cy="293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817173" y="1163781"/>
            <a:ext cx="0" cy="540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817173" y="1163781"/>
            <a:ext cx="3174427" cy="519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" idx="2"/>
            <a:endCxn id="15" idx="0"/>
          </p:cNvCxnSpPr>
          <p:nvPr/>
        </p:nvCxnSpPr>
        <p:spPr>
          <a:xfrm flipH="1">
            <a:off x="7744689" y="2216723"/>
            <a:ext cx="1253829" cy="53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9" idx="2"/>
            <a:endCxn id="17" idx="0"/>
          </p:cNvCxnSpPr>
          <p:nvPr/>
        </p:nvCxnSpPr>
        <p:spPr>
          <a:xfrm>
            <a:off x="8998518" y="2216723"/>
            <a:ext cx="1558647" cy="389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6054436" y="3278761"/>
            <a:ext cx="1690253" cy="517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5" idx="2"/>
            <a:endCxn id="19" idx="0"/>
          </p:cNvCxnSpPr>
          <p:nvPr/>
        </p:nvCxnSpPr>
        <p:spPr>
          <a:xfrm>
            <a:off x="7744689" y="3278761"/>
            <a:ext cx="1347352" cy="517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0" idx="0"/>
          </p:cNvCxnSpPr>
          <p:nvPr/>
        </p:nvCxnSpPr>
        <p:spPr>
          <a:xfrm flipH="1">
            <a:off x="9092040" y="4475017"/>
            <a:ext cx="58889" cy="54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43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545"/>
            <a:ext cx="10515600" cy="734292"/>
          </a:xfrm>
        </p:spPr>
        <p:txBody>
          <a:bodyPr>
            <a:noAutofit/>
          </a:bodyPr>
          <a:lstStyle/>
          <a:p>
            <a:r>
              <a:rPr lang="en-US" sz="3200" dirty="0" smtClean="0"/>
              <a:t>Project Crunch Forecast: With Project Crunch ,we forecast revenue to grow to $ 4703 Millions by 2019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447378"/>
              </p:ext>
            </p:extLst>
          </p:nvPr>
        </p:nvGraphicFramePr>
        <p:xfrm>
          <a:off x="838199" y="983677"/>
          <a:ext cx="10515599" cy="5597232"/>
        </p:xfrm>
        <a:graphic>
          <a:graphicData uri="http://schemas.openxmlformats.org/drawingml/2006/table">
            <a:tbl>
              <a:tblPr firstRow="1" firstCol="1">
                <a:tableStyleId>{72833802-FEF1-4C79-8D5D-14CF1EAF98D9}</a:tableStyleId>
              </a:tblPr>
              <a:tblGrid>
                <a:gridCol w="2811742"/>
                <a:gridCol w="1474544"/>
                <a:gridCol w="1619916"/>
                <a:gridCol w="1708276"/>
                <a:gridCol w="1516830"/>
                <a:gridCol w="1384291"/>
              </a:tblGrid>
              <a:tr h="536211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baseline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 dirty="0">
                          <a:effectLst/>
                        </a:rPr>
                        <a:t>2015</a:t>
                      </a:r>
                      <a:endParaRPr lang="is-I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>
                          <a:effectLst/>
                        </a:rPr>
                        <a:t>2016</a:t>
                      </a:r>
                      <a:endParaRPr lang="is-IS" sz="1800" b="1" i="0" u="none" strike="noStrike" baseline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>
                          <a:effectLst/>
                        </a:rPr>
                        <a:t>2017</a:t>
                      </a:r>
                      <a:endParaRPr lang="is-IS" sz="1800" b="1" i="0" u="none" strike="noStrike" baseline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baseline="0">
                          <a:effectLst/>
                        </a:rPr>
                        <a:t>2018</a:t>
                      </a:r>
                      <a:endParaRPr lang="is-IS" sz="1800" b="1" i="0" u="none" strike="noStrike" baseline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700" u="none" strike="noStrike" baseline="0" dirty="0" smtClean="0">
                          <a:effectLst/>
                        </a:rPr>
                        <a:t>2019</a:t>
                      </a:r>
                      <a:endParaRPr lang="is-IS" sz="1700" u="none" strike="noStrike" baseline="0" dirty="0">
                        <a:effectLst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</a:tr>
              <a:tr h="5362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baseline="0" dirty="0" smtClean="0">
                          <a:effectLst/>
                          <a:latin typeface="+mj-lt"/>
                        </a:rPr>
                        <a:t>NO OF STORES</a:t>
                      </a:r>
                      <a:endParaRPr lang="en-US" sz="16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0" u="none" strike="noStrike" baseline="0" dirty="0">
                          <a:effectLst/>
                          <a:latin typeface="+mj-lt"/>
                        </a:rPr>
                        <a:t>2443</a:t>
                      </a:r>
                      <a:endParaRPr lang="is-I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1" u="none" strike="noStrike" baseline="0" dirty="0">
                          <a:effectLst/>
                          <a:latin typeface="+mj-lt"/>
                        </a:rPr>
                        <a:t>2596</a:t>
                      </a:r>
                      <a:endParaRPr lang="is-IS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1" u="none" strike="noStrike" baseline="0">
                          <a:effectLst/>
                          <a:latin typeface="+mj-lt"/>
                        </a:rPr>
                        <a:t>2697</a:t>
                      </a:r>
                      <a:endParaRPr lang="is-IS" sz="1600" b="1" i="0" u="none" strike="noStrike" baseline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600" b="1" u="none" strike="noStrike" baseline="0">
                          <a:effectLst/>
                          <a:latin typeface="+mj-lt"/>
                        </a:rPr>
                        <a:t>2769</a:t>
                      </a:r>
                      <a:endParaRPr lang="is-IS" sz="1600" b="1" i="0" u="none" strike="noStrike" baseline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600" b="1" u="none" strike="noStrike" baseline="0" dirty="0">
                          <a:effectLst/>
                          <a:latin typeface="+mj-lt"/>
                        </a:rPr>
                        <a:t>2831</a:t>
                      </a:r>
                      <a:endParaRPr lang="cs-CZ" sz="1600" b="1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</a:tr>
              <a:tr h="614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cap="all" baseline="0" dirty="0">
                          <a:effectLst/>
                          <a:latin typeface="+mj-lt"/>
                        </a:rPr>
                        <a:t>Revenue per store(all products</a:t>
                      </a:r>
                      <a:r>
                        <a:rPr lang="en-US" sz="1600" u="none" strike="noStrike" cap="all" baseline="0" dirty="0" smtClean="0">
                          <a:effectLst/>
                          <a:latin typeface="+mj-lt"/>
                        </a:rPr>
                        <a:t>)</a:t>
                      </a:r>
                      <a:endParaRPr lang="en-US" sz="1600" b="1" i="0" u="none" strike="noStrike" cap="all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$1,842,498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$1,754,224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$1,672,847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$1,597,820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$1,528,638</a:t>
                      </a:r>
                    </a:p>
                  </a:txBody>
                  <a:tcPr marL="6350" marR="6350" marT="6350" marB="0" anchor="b"/>
                </a:tc>
              </a:tr>
              <a:tr h="5362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</a:rPr>
                        <a:t>    Burritos </a:t>
                      </a:r>
                      <a:r>
                        <a:rPr lang="en-US" sz="1600" b="0" u="none" strike="noStrike" baseline="0" dirty="0">
                          <a:effectLst/>
                        </a:rPr>
                        <a:t>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$700,149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$637,783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$580,973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$529,223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$482,082</a:t>
                      </a:r>
                    </a:p>
                  </a:txBody>
                  <a:tcPr marL="6350" marR="6350" marT="6350" marB="0" anchor="b">
                    <a:noFill/>
                  </a:tcPr>
                </a:tc>
              </a:tr>
              <a:tr h="5362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</a:rPr>
                        <a:t>    Tacos </a:t>
                      </a:r>
                      <a:r>
                        <a:rPr lang="en-US" sz="1600" b="0" u="none" strike="noStrike" baseline="0" dirty="0">
                          <a:effectLst/>
                        </a:rPr>
                        <a:t>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$598,812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$575,955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$553,971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$532,826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$512,488</a:t>
                      </a:r>
                    </a:p>
                  </a:txBody>
                  <a:tcPr marL="6350" marR="6350" marT="6350" marB="0" anchor="b">
                    <a:noFill/>
                  </a:tcPr>
                </a:tc>
              </a:tr>
              <a:tr h="614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</a:rPr>
                        <a:t>    Kids </a:t>
                      </a:r>
                      <a:r>
                        <a:rPr lang="en-US" sz="1600" b="0" u="none" strike="noStrike" baseline="0" dirty="0">
                          <a:effectLst/>
                        </a:rPr>
                        <a:t>meal 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$147,400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$139,594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$132,202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$125,201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$118,571</a:t>
                      </a:r>
                    </a:p>
                  </a:txBody>
                  <a:tcPr marL="6350" marR="6350" marT="6350" marB="0" anchor="b">
                    <a:noFill/>
                  </a:tcPr>
                </a:tc>
              </a:tr>
              <a:tr h="5362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baseline="0" dirty="0" smtClean="0">
                          <a:effectLst/>
                        </a:rPr>
                        <a:t>    Drinks </a:t>
                      </a:r>
                      <a:r>
                        <a:rPr lang="en-US" sz="1600" b="0" u="none" strike="noStrike" baseline="0" dirty="0">
                          <a:effectLst/>
                        </a:rPr>
                        <a:t>(revenue per store)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$396,137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$400,891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$405,701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$410,570</a:t>
                      </a:r>
                    </a:p>
                  </a:txBody>
                  <a:tcPr marL="6350" marR="6350" marT="635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$415,497</a:t>
                      </a:r>
                    </a:p>
                  </a:txBody>
                  <a:tcPr marL="6350" marR="6350" marT="6350" marB="0" anchor="b">
                    <a:noFill/>
                  </a:tcPr>
                </a:tc>
              </a:tr>
              <a:tr h="5362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 </a:t>
                      </a:r>
                      <a:r>
                        <a:rPr lang="en-US" sz="16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Salads (revenue per store)</a:t>
                      </a:r>
                      <a:endParaRPr lang="en-US" sz="1600" b="0" i="0" u="none" strike="noStrike" cap="non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16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$235,602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$224,383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$213,790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$203,782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362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cap="all" baseline="0" dirty="0">
                          <a:effectLst/>
                          <a:latin typeface="+mj-lt"/>
                        </a:rPr>
                        <a:t>Chiboodle Total Revenue</a:t>
                      </a:r>
                      <a:endParaRPr lang="en-US" sz="1600" b="1" i="0" u="none" strike="noStrike" cap="all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$4,501,223,000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$4,633,826,073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$4,644,416,394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$4,683,892,904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$4,703,312,737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61458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cap="all" baseline="0" dirty="0">
                          <a:effectLst/>
                          <a:latin typeface="+mj-lt"/>
                        </a:rPr>
                        <a:t>Revenue growth % </a:t>
                      </a:r>
                      <a:r>
                        <a:rPr lang="en-US" sz="1600" u="none" strike="noStrike" baseline="0" dirty="0" smtClean="0">
                          <a:effectLst/>
                          <a:latin typeface="+mj-lt"/>
                        </a:rPr>
                        <a:t>(Year </a:t>
                      </a:r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on </a:t>
                      </a:r>
                      <a:r>
                        <a:rPr lang="en-US" sz="1600" u="none" strike="noStrike" baseline="0" dirty="0" smtClean="0">
                          <a:effectLst/>
                          <a:latin typeface="+mj-lt"/>
                        </a:rPr>
                        <a:t>Year</a:t>
                      </a:r>
                      <a:r>
                        <a:rPr lang="en-US" sz="1600" u="none" strike="noStrike" baseline="0" dirty="0">
                          <a:effectLst/>
                          <a:latin typeface="+mj-lt"/>
                        </a:rPr>
                        <a:t>)</a:t>
                      </a:r>
                      <a:endParaRPr lang="en-US" sz="1600" b="1" i="0" u="none" strike="noStrike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9.56%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2.95%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0.23%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0.85%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0.41%</a:t>
                      </a:r>
                    </a:p>
                  </a:txBody>
                  <a:tcPr marL="6350" marR="6350" marT="6350" marB="0" anchor="b">
                    <a:gradFill flip="none" rotWithShape="1">
                      <a:gsLst>
                        <a:gs pos="0">
                          <a:schemeClr val="accent1">
                            <a:lumMod val="50000"/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lumMod val="50000"/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lumMod val="50000"/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2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964"/>
            <a:ext cx="10515600" cy="110836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Scenario Analysis: a) If we price salads at </a:t>
            </a:r>
            <a:r>
              <a:rPr lang="en-US" sz="3200" dirty="0" smtClean="0">
                <a:solidFill>
                  <a:schemeClr val="accent4"/>
                </a:solidFill>
              </a:rPr>
              <a:t>$8.44 </a:t>
            </a:r>
            <a:r>
              <a:rPr lang="en-US" sz="3200" dirty="0" err="1" smtClean="0"/>
              <a:t>Chiboodle</a:t>
            </a:r>
            <a:r>
              <a:rPr lang="en-US" sz="3200" dirty="0" smtClean="0"/>
              <a:t> Revenue will grow to </a:t>
            </a:r>
            <a:r>
              <a:rPr lang="en-US" sz="3200" dirty="0" smtClean="0">
                <a:solidFill>
                  <a:schemeClr val="accent4"/>
                </a:solidFill>
              </a:rPr>
              <a:t>$4703 </a:t>
            </a:r>
            <a:r>
              <a:rPr lang="en-US" sz="3200" dirty="0" smtClean="0"/>
              <a:t>Millions by 2019. b) If we price salads at </a:t>
            </a:r>
            <a:r>
              <a:rPr lang="en-US" sz="3200" dirty="0" smtClean="0">
                <a:solidFill>
                  <a:schemeClr val="accent6"/>
                </a:solidFill>
              </a:rPr>
              <a:t>$10.38 </a:t>
            </a:r>
            <a:r>
              <a:rPr lang="en-US" sz="3200" dirty="0" err="1" smtClean="0"/>
              <a:t>Chiboodle</a:t>
            </a:r>
            <a:r>
              <a:rPr lang="en-US" sz="3200" dirty="0" smtClean="0"/>
              <a:t> Revenue will grow to </a:t>
            </a:r>
            <a:r>
              <a:rPr lang="en-US" sz="3200" dirty="0" smtClean="0">
                <a:solidFill>
                  <a:schemeClr val="accent6"/>
                </a:solidFill>
              </a:rPr>
              <a:t>$4809 </a:t>
            </a:r>
            <a:r>
              <a:rPr lang="en-US" sz="3200" dirty="0" smtClean="0"/>
              <a:t>Millions by 2019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336241"/>
              </p:ext>
            </p:extLst>
          </p:nvPr>
        </p:nvGraphicFramePr>
        <p:xfrm>
          <a:off x="505688" y="1302326"/>
          <a:ext cx="11062857" cy="5403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096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570</Words>
  <Application>Microsoft Macintosh PowerPoint</Application>
  <PresentationFormat>Widescreen</PresentationFormat>
  <Paragraphs>162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Mangal</vt:lpstr>
      <vt:lpstr>Arial</vt:lpstr>
      <vt:lpstr>Office Theme</vt:lpstr>
      <vt:lpstr>Chiboodle Inc. Case Study</vt:lpstr>
      <vt:lpstr>Chiboodle Sales grew 9.56% in 2015. Growth was driven primarily by product segment Drinks. Tacos is very closely aligned to Kids Menu and appear to be just average in terms of growth rate</vt:lpstr>
      <vt:lpstr>Most of the growth in 2015 came from New locations</vt:lpstr>
      <vt:lpstr>We cannot continue to rely on new locations for growth, since new locations growth is declining.</vt:lpstr>
      <vt:lpstr>“Business as usual ” Forecast: Revenue will grow to $ 4327 Million by 2019</vt:lpstr>
      <vt:lpstr>Project Crunch Forecast: Key Assumptions and Methodology</vt:lpstr>
      <vt:lpstr>Project Crunch Forecast: With Project Crunch ,we forecast revenue to grow to $ 4703 Millions by 2019</vt:lpstr>
      <vt:lpstr>Scenario Analysis: a) If we price salads at $8.44 Chiboodle Revenue will grow to $4703 Millions by 2019. b) If we price salads at $10.38 Chiboodle Revenue will grow to $4809 Millions by 2019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Chiboodle Inc. Case Study</dc:title>
  <dc:creator>Priyanka Kadam</dc:creator>
  <cp:lastModifiedBy>Priyanka Kadam</cp:lastModifiedBy>
  <cp:revision>45</cp:revision>
  <dcterms:created xsi:type="dcterms:W3CDTF">2017-08-20T19:27:16Z</dcterms:created>
  <dcterms:modified xsi:type="dcterms:W3CDTF">2017-08-22T01:43:19Z</dcterms:modified>
</cp:coreProperties>
</file>